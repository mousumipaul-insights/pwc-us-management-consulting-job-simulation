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80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3432e0d1ca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3432e0d1ca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3432e0d1ca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3432e0d1ca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15355" y="1338095"/>
            <a:ext cx="8478900" cy="1246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-US" sz="3200" b="1" dirty="0" smtClean="0"/>
              <a:t>Broadcom-VMware Merger</a:t>
            </a:r>
          </a:p>
          <a:p>
            <a:pPr algn="ctr"/>
            <a:r>
              <a:rPr lang="en-US" dirty="0"/>
              <a:t>The Strategic Case for </a:t>
            </a:r>
            <a:r>
              <a:rPr lang="en-US" dirty="0" smtClean="0"/>
              <a:t>Synergy</a:t>
            </a:r>
            <a:endParaRPr lang="en-US" sz="3200" b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00" b="1" dirty="0"/>
          </a:p>
        </p:txBody>
      </p:sp>
      <p:sp>
        <p:nvSpPr>
          <p:cNvPr id="55" name="Google Shape;55;p13"/>
          <p:cNvSpPr txBox="1"/>
          <p:nvPr/>
        </p:nvSpPr>
        <p:spPr>
          <a:xfrm>
            <a:off x="414725" y="1145750"/>
            <a:ext cx="3717000" cy="384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 dirty="0"/>
          </a:p>
        </p:txBody>
      </p:sp>
      <p:sp>
        <p:nvSpPr>
          <p:cNvPr id="56" name="Google Shape;56;p13"/>
          <p:cNvSpPr txBox="1"/>
          <p:nvPr/>
        </p:nvSpPr>
        <p:spPr>
          <a:xfrm>
            <a:off x="4773750" y="1145750"/>
            <a:ext cx="3717000" cy="384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 dirty="0"/>
          </a:p>
        </p:txBody>
      </p:sp>
      <p:sp>
        <p:nvSpPr>
          <p:cNvPr id="59" name="Google Shape;59;p13"/>
          <p:cNvSpPr txBox="1"/>
          <p:nvPr/>
        </p:nvSpPr>
        <p:spPr>
          <a:xfrm>
            <a:off x="4773750" y="1883150"/>
            <a:ext cx="37170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9999" lvl="0" indent="-177800" algn="l" rtl="0">
              <a:spcBef>
                <a:spcPts val="0"/>
              </a:spcBef>
              <a:spcAft>
                <a:spcPts val="1200"/>
              </a:spcAft>
              <a:buSzPts val="1300"/>
              <a:buChar char="●"/>
            </a:pPr>
            <a:endParaRPr sz="1300" i="1" dirty="0"/>
          </a:p>
        </p:txBody>
      </p:sp>
      <p:sp>
        <p:nvSpPr>
          <p:cNvPr id="60" name="Google Shape;60;p13"/>
          <p:cNvSpPr txBox="1"/>
          <p:nvPr/>
        </p:nvSpPr>
        <p:spPr>
          <a:xfrm>
            <a:off x="414725" y="1883150"/>
            <a:ext cx="37170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9999" lvl="0" indent="-177800" algn="l" rtl="0">
              <a:spcBef>
                <a:spcPts val="0"/>
              </a:spcBef>
              <a:spcAft>
                <a:spcPts val="1200"/>
              </a:spcAft>
              <a:buSzPts val="1300"/>
              <a:buChar char="●"/>
            </a:pPr>
            <a:endParaRPr sz="1300" i="1" dirty="0"/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45" y="4810790"/>
            <a:ext cx="990599" cy="25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1199970" y="2662152"/>
            <a:ext cx="71475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Combining Broadcom's semiconductor and infrastructure leadership with VMware's virtualization and cloud software creates an unprecedented integrated platform. This merger delivers cross-platform synergies, accelerates innovation, and expands enterprise customer value.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/>
        </p:nvSpPr>
        <p:spPr>
          <a:xfrm>
            <a:off x="337275" y="252950"/>
            <a:ext cx="8478900" cy="969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-US" sz="2800" b="1" dirty="0"/>
              <a:t>Revenue Synergies &amp; Market Expansion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 b="1" dirty="0"/>
          </a:p>
        </p:txBody>
      </p:sp>
      <p:sp>
        <p:nvSpPr>
          <p:cNvPr id="67" name="Google Shape;67;p14"/>
          <p:cNvSpPr txBox="1"/>
          <p:nvPr/>
        </p:nvSpPr>
        <p:spPr>
          <a:xfrm>
            <a:off x="414725" y="1145750"/>
            <a:ext cx="37170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b="1" dirty="0"/>
              <a:t>Cross-Selling &amp; Wallet Share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 dirty="0"/>
          </a:p>
        </p:txBody>
      </p:sp>
      <p:sp>
        <p:nvSpPr>
          <p:cNvPr id="68" name="Google Shape;68;p14"/>
          <p:cNvSpPr txBox="1"/>
          <p:nvPr/>
        </p:nvSpPr>
        <p:spPr>
          <a:xfrm>
            <a:off x="4773750" y="1145750"/>
            <a:ext cx="37170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b="1" dirty="0"/>
              <a:t>Platform Integration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1" dirty="0"/>
          </a:p>
        </p:txBody>
      </p:sp>
      <p:cxnSp>
        <p:nvCxnSpPr>
          <p:cNvPr id="69" name="Google Shape;69;p14"/>
          <p:cNvCxnSpPr/>
          <p:nvPr/>
        </p:nvCxnSpPr>
        <p:spPr>
          <a:xfrm>
            <a:off x="414725" y="1676219"/>
            <a:ext cx="3717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" name="Google Shape;70;p14"/>
          <p:cNvCxnSpPr/>
          <p:nvPr/>
        </p:nvCxnSpPr>
        <p:spPr>
          <a:xfrm>
            <a:off x="4773750" y="1676219"/>
            <a:ext cx="3717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" name="Google Shape;71;p14"/>
          <p:cNvSpPr txBox="1"/>
          <p:nvPr/>
        </p:nvSpPr>
        <p:spPr>
          <a:xfrm>
            <a:off x="4773750" y="1883150"/>
            <a:ext cx="3717000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9999" lvl="0" indent="-177800">
              <a:spcAft>
                <a:spcPts val="1200"/>
              </a:spcAft>
              <a:buSzPts val="1300"/>
              <a:buChar char="●"/>
            </a:pPr>
            <a:r>
              <a:rPr lang="en-US" dirty="0"/>
              <a:t>Enable hybrid and </a:t>
            </a:r>
            <a:r>
              <a:rPr lang="en-US" dirty="0" err="1"/>
              <a:t>multicloud</a:t>
            </a:r>
            <a:r>
              <a:rPr lang="en-US" dirty="0"/>
              <a:t> infrastructure by combining Broadcom's chips and networks with VMware's virtualization stack, creating a differentiated end-to-end </a:t>
            </a:r>
            <a:r>
              <a:rPr lang="en-US" dirty="0" smtClean="0"/>
              <a:t>offering.</a:t>
            </a:r>
            <a:endParaRPr sz="1300" i="1" dirty="0"/>
          </a:p>
        </p:txBody>
      </p:sp>
      <p:sp>
        <p:nvSpPr>
          <p:cNvPr id="72" name="Google Shape;72;p14"/>
          <p:cNvSpPr txBox="1"/>
          <p:nvPr/>
        </p:nvSpPr>
        <p:spPr>
          <a:xfrm>
            <a:off x="414725" y="1883150"/>
            <a:ext cx="3717000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9999" lvl="0" indent="-177800">
              <a:spcAft>
                <a:spcPts val="1200"/>
              </a:spcAft>
              <a:buSzPts val="1300"/>
              <a:buChar char="●"/>
            </a:pPr>
            <a:r>
              <a:rPr lang="en-US" dirty="0"/>
              <a:t>Integrate VMware into Broadcom's enterprise channels to expand wallet share, upsell cloud, security, and edge solutions, and capture new accounts through complementary product </a:t>
            </a:r>
            <a:r>
              <a:rPr lang="en-US" dirty="0" smtClean="0"/>
              <a:t>portfolios.</a:t>
            </a:r>
            <a:endParaRPr sz="1300" i="1" dirty="0"/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45" y="4810790"/>
            <a:ext cx="990599" cy="25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/>
        </p:nvSpPr>
        <p:spPr>
          <a:xfrm>
            <a:off x="337275" y="252950"/>
            <a:ext cx="8478900" cy="969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800" b="1" dirty="0"/>
              <a:t>Operational Efficiency &amp; Innovation Acceleration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 b="1" dirty="0"/>
          </a:p>
        </p:txBody>
      </p:sp>
      <p:sp>
        <p:nvSpPr>
          <p:cNvPr id="79" name="Google Shape;79;p15"/>
          <p:cNvSpPr txBox="1"/>
          <p:nvPr/>
        </p:nvSpPr>
        <p:spPr>
          <a:xfrm>
            <a:off x="414725" y="1145750"/>
            <a:ext cx="37170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b="1" dirty="0"/>
              <a:t>Cost Synergies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 dirty="0"/>
          </a:p>
        </p:txBody>
      </p:sp>
      <p:sp>
        <p:nvSpPr>
          <p:cNvPr id="80" name="Google Shape;80;p15"/>
          <p:cNvSpPr txBox="1"/>
          <p:nvPr/>
        </p:nvSpPr>
        <p:spPr>
          <a:xfrm>
            <a:off x="4773750" y="1145750"/>
            <a:ext cx="37170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b="1" dirty="0"/>
              <a:t>Innovation Velocity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 dirty="0"/>
          </a:p>
        </p:txBody>
      </p:sp>
      <p:cxnSp>
        <p:nvCxnSpPr>
          <p:cNvPr id="81" name="Google Shape;81;p15"/>
          <p:cNvCxnSpPr/>
          <p:nvPr/>
        </p:nvCxnSpPr>
        <p:spPr>
          <a:xfrm>
            <a:off x="414725" y="1676219"/>
            <a:ext cx="3717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2" name="Google Shape;82;p15"/>
          <p:cNvCxnSpPr/>
          <p:nvPr/>
        </p:nvCxnSpPr>
        <p:spPr>
          <a:xfrm>
            <a:off x="4773750" y="1676219"/>
            <a:ext cx="3717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3" name="Google Shape;83;p15"/>
          <p:cNvSpPr txBox="1"/>
          <p:nvPr/>
        </p:nvSpPr>
        <p:spPr>
          <a:xfrm>
            <a:off x="4773750" y="1883150"/>
            <a:ext cx="3717000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9999" lvl="0" indent="-177800">
              <a:spcAft>
                <a:spcPts val="1200"/>
              </a:spcAft>
              <a:buSzPts val="1300"/>
              <a:buChar char="●"/>
            </a:pPr>
            <a:r>
              <a:rPr lang="en-US" dirty="0"/>
              <a:t>Pool R&amp;D resources and engineering talent to accelerate development of secure, cloud-native, and AI-enabled solutions. Strengthen competitive moats through proprietary technology integration.</a:t>
            </a:r>
            <a:endParaRPr sz="1300" i="1" dirty="0"/>
          </a:p>
        </p:txBody>
      </p:sp>
      <p:sp>
        <p:nvSpPr>
          <p:cNvPr id="84" name="Google Shape;84;p15"/>
          <p:cNvSpPr txBox="1"/>
          <p:nvPr/>
        </p:nvSpPr>
        <p:spPr>
          <a:xfrm>
            <a:off x="414725" y="1883150"/>
            <a:ext cx="3717000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9999" lvl="0" indent="-177800">
              <a:spcAft>
                <a:spcPts val="1200"/>
              </a:spcAft>
              <a:buSzPts val="1300"/>
              <a:buChar char="●"/>
            </a:pPr>
            <a:r>
              <a:rPr lang="en-US" dirty="0"/>
              <a:t>Eliminate overlapping functions, consolidate supply chains, and streamline support services. Target multi-billion-dollar EBITDA synergies within three years through operational optimization.</a:t>
            </a:r>
            <a:endParaRPr sz="1300" i="1" dirty="0"/>
          </a:p>
        </p:txBody>
      </p:sp>
      <p:pic>
        <p:nvPicPr>
          <p:cNvPr id="85" name="Google Shape;8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45" y="4810790"/>
            <a:ext cx="990599" cy="25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161</Words>
  <Application>Microsoft Office PowerPoint</Application>
  <PresentationFormat>On-screen Show (16:9)</PresentationFormat>
  <Paragraphs>13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Simple Light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MRPOUL</cp:lastModifiedBy>
  <cp:revision>2</cp:revision>
  <dcterms:modified xsi:type="dcterms:W3CDTF">2025-11-26T18:32:37Z</dcterms:modified>
</cp:coreProperties>
</file>