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432e0d1c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432e0d1c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432e0d1c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432e0d1c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37275" y="252950"/>
            <a:ext cx="8478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[Summarize the key message of the slide here in the title]</a:t>
            </a:r>
            <a:endParaRPr b="1" sz="2300"/>
          </a:p>
        </p:txBody>
      </p:sp>
      <p:sp>
        <p:nvSpPr>
          <p:cNvPr id="55" name="Google Shape;55;p13"/>
          <p:cNvSpPr txBox="1"/>
          <p:nvPr/>
        </p:nvSpPr>
        <p:spPr>
          <a:xfrm>
            <a:off x="414725" y="11457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[High-level introduction/context of the transaction chosen]</a:t>
            </a:r>
            <a:endParaRPr b="1" sz="1300"/>
          </a:p>
        </p:txBody>
      </p:sp>
      <p:sp>
        <p:nvSpPr>
          <p:cNvPr id="56" name="Google Shape;56;p13"/>
          <p:cNvSpPr txBox="1"/>
          <p:nvPr/>
        </p:nvSpPr>
        <p:spPr>
          <a:xfrm>
            <a:off x="4773750" y="11457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[What are the key qualitative synergies from the transaction that you will expand upon?]</a:t>
            </a:r>
            <a:endParaRPr b="1" sz="1300"/>
          </a:p>
        </p:txBody>
      </p:sp>
      <p:cxnSp>
        <p:nvCxnSpPr>
          <p:cNvPr id="57" name="Google Shape;57;p13"/>
          <p:cNvCxnSpPr/>
          <p:nvPr/>
        </p:nvCxnSpPr>
        <p:spPr>
          <a:xfrm>
            <a:off x="414725" y="1676219"/>
            <a:ext cx="371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>
            <a:off x="4773750" y="1676219"/>
            <a:ext cx="371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4773750" y="18831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179999" rtl="0" algn="l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r>
              <a:rPr i="1" lang="en-GB" sz="1300"/>
              <a:t>[Brief summary of synergies by category, discussed on following slides]</a:t>
            </a:r>
            <a:endParaRPr i="1" sz="1300"/>
          </a:p>
        </p:txBody>
      </p:sp>
      <p:sp>
        <p:nvSpPr>
          <p:cNvPr id="60" name="Google Shape;60;p13"/>
          <p:cNvSpPr txBox="1"/>
          <p:nvPr/>
        </p:nvSpPr>
        <p:spPr>
          <a:xfrm>
            <a:off x="414725" y="18831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179999" rtl="0" algn="l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r>
              <a:rPr i="1" lang="en-GB" sz="1300"/>
              <a:t>[</a:t>
            </a:r>
            <a:r>
              <a:rPr i="1" lang="en-GB" sz="1300"/>
              <a:t>Quotes, images, icons, charts, etc. to provide introduction/context behind transaction]</a:t>
            </a:r>
            <a:endParaRPr i="1" sz="13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" y="4810790"/>
            <a:ext cx="990599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37275" y="252950"/>
            <a:ext cx="8478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[</a:t>
            </a:r>
            <a:r>
              <a:rPr b="1" lang="en-GB" sz="2300"/>
              <a:t>Summarize the key message of the slide here in the title]</a:t>
            </a:r>
            <a:endParaRPr b="1" sz="2300"/>
          </a:p>
        </p:txBody>
      </p:sp>
      <p:sp>
        <p:nvSpPr>
          <p:cNvPr id="67" name="Google Shape;67;p14"/>
          <p:cNvSpPr txBox="1"/>
          <p:nvPr/>
        </p:nvSpPr>
        <p:spPr>
          <a:xfrm>
            <a:off x="414725" y="11457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[High-level insight into the first category of qualitative synergies]</a:t>
            </a:r>
            <a:endParaRPr b="1" sz="1300"/>
          </a:p>
        </p:txBody>
      </p:sp>
      <p:sp>
        <p:nvSpPr>
          <p:cNvPr id="68" name="Google Shape;68;p14"/>
          <p:cNvSpPr txBox="1"/>
          <p:nvPr/>
        </p:nvSpPr>
        <p:spPr>
          <a:xfrm>
            <a:off x="4773750" y="11457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[</a:t>
            </a:r>
            <a:r>
              <a:rPr b="1" lang="en-GB" sz="1300">
                <a:solidFill>
                  <a:schemeClr val="dk1"/>
                </a:solidFill>
              </a:rPr>
              <a:t>High-level insight into the second category of qualitative synergies]</a:t>
            </a:r>
            <a:endParaRPr b="1" sz="1300"/>
          </a:p>
        </p:txBody>
      </p:sp>
      <p:cxnSp>
        <p:nvCxnSpPr>
          <p:cNvPr id="69" name="Google Shape;69;p14"/>
          <p:cNvCxnSpPr/>
          <p:nvPr/>
        </p:nvCxnSpPr>
        <p:spPr>
          <a:xfrm>
            <a:off x="414725" y="1676219"/>
            <a:ext cx="371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4773750" y="1676219"/>
            <a:ext cx="371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4773750" y="18831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179999" rtl="0" algn="l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r>
              <a:rPr i="1" lang="en-GB" sz="1300"/>
              <a:t>[Quotes, images, icons, charts, etc., to back up the high-level points from this category]</a:t>
            </a:r>
            <a:endParaRPr i="1" sz="1300"/>
          </a:p>
        </p:txBody>
      </p:sp>
      <p:sp>
        <p:nvSpPr>
          <p:cNvPr id="72" name="Google Shape;72;p14"/>
          <p:cNvSpPr txBox="1"/>
          <p:nvPr/>
        </p:nvSpPr>
        <p:spPr>
          <a:xfrm>
            <a:off x="414725" y="18831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179999" rtl="0" algn="l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r>
              <a:rPr i="1" lang="en-GB" sz="1300"/>
              <a:t>[</a:t>
            </a:r>
            <a:r>
              <a:rPr i="1" lang="en-GB" sz="1300"/>
              <a:t>Quotes, images, icons, charts, etc., to back up the high-level points from this category]</a:t>
            </a:r>
            <a:endParaRPr i="1" sz="130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" y="4810790"/>
            <a:ext cx="990599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37275" y="252950"/>
            <a:ext cx="8478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[</a:t>
            </a:r>
            <a:r>
              <a:rPr b="1" lang="en-GB" sz="2300"/>
              <a:t>Summarize the key message of the slide here in the title]</a:t>
            </a:r>
            <a:endParaRPr b="1" sz="2300"/>
          </a:p>
        </p:txBody>
      </p:sp>
      <p:sp>
        <p:nvSpPr>
          <p:cNvPr id="79" name="Google Shape;79;p15"/>
          <p:cNvSpPr txBox="1"/>
          <p:nvPr/>
        </p:nvSpPr>
        <p:spPr>
          <a:xfrm>
            <a:off x="414725" y="11457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[</a:t>
            </a:r>
            <a:r>
              <a:rPr b="1" lang="en-GB" sz="1300"/>
              <a:t>High-level insight into the third category of qualitative synergies]</a:t>
            </a:r>
            <a:endParaRPr b="1" sz="1300"/>
          </a:p>
        </p:txBody>
      </p:sp>
      <p:sp>
        <p:nvSpPr>
          <p:cNvPr id="80" name="Google Shape;80;p15"/>
          <p:cNvSpPr txBox="1"/>
          <p:nvPr/>
        </p:nvSpPr>
        <p:spPr>
          <a:xfrm>
            <a:off x="4773750" y="11457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[</a:t>
            </a:r>
            <a:r>
              <a:rPr b="1" lang="en-GB" sz="1300">
                <a:solidFill>
                  <a:schemeClr val="dk1"/>
                </a:solidFill>
              </a:rPr>
              <a:t>High-level insight into the fourth category of qualitative synergies]</a:t>
            </a:r>
            <a:endParaRPr b="1" sz="1300"/>
          </a:p>
        </p:txBody>
      </p:sp>
      <p:cxnSp>
        <p:nvCxnSpPr>
          <p:cNvPr id="81" name="Google Shape;81;p15"/>
          <p:cNvCxnSpPr/>
          <p:nvPr/>
        </p:nvCxnSpPr>
        <p:spPr>
          <a:xfrm>
            <a:off x="414725" y="1676219"/>
            <a:ext cx="371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/>
          <p:nvPr/>
        </p:nvCxnSpPr>
        <p:spPr>
          <a:xfrm>
            <a:off x="4773750" y="1676219"/>
            <a:ext cx="371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5"/>
          <p:cNvSpPr txBox="1"/>
          <p:nvPr/>
        </p:nvSpPr>
        <p:spPr>
          <a:xfrm>
            <a:off x="4773750" y="18831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179999" rtl="0" algn="l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r>
              <a:rPr i="1" lang="en-GB" sz="1300"/>
              <a:t>[</a:t>
            </a:r>
            <a:r>
              <a:rPr i="1" lang="en-GB" sz="1300"/>
              <a:t>Quotes, images, icons, charts, etc., to back up the high-level points from this category]</a:t>
            </a:r>
            <a:endParaRPr i="1" sz="1300"/>
          </a:p>
        </p:txBody>
      </p:sp>
      <p:sp>
        <p:nvSpPr>
          <p:cNvPr id="84" name="Google Shape;84;p15"/>
          <p:cNvSpPr txBox="1"/>
          <p:nvPr/>
        </p:nvSpPr>
        <p:spPr>
          <a:xfrm>
            <a:off x="414725" y="1883150"/>
            <a:ext cx="371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179999" rtl="0" algn="l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r>
              <a:rPr i="1" lang="en-GB" sz="1300"/>
              <a:t>[</a:t>
            </a:r>
            <a:r>
              <a:rPr i="1" lang="en-GB" sz="1300"/>
              <a:t>Quotes, images, icons, charts, etc., to back up the high-level points from this category]</a:t>
            </a:r>
            <a:endParaRPr i="1" sz="1300"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" y="4810790"/>
            <a:ext cx="990599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